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0" dt="2026-10-29T12:08:32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13798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Calibri"/>
              </a:defRPr>
            </a:pPr>
            <a:r>
              <a:t>IMAGE PROCESSING &amp; COMPUTER VISION</a:t>
            </a:r>
          </a:p>
          <a:p>
            <a:pPr algn="ctr">
              <a:spcBef>
                <a:spcPts val="800"/>
              </a:spcBef>
              <a:defRPr sz="3200" b="1">
                <a:solidFill>
                  <a:srgbClr val="0F2537"/>
                </a:solidFill>
                <a:latin typeface="Calibri"/>
              </a:defRPr>
            </a:pPr>
            <a:r>
              <a:t>Restoration and Enhancement of Degraded</a:t>
            </a:r>
            <a:br>
              <a:rPr dirty="0"/>
            </a:br>
            <a:r>
              <a:t>Historical Documents and Manuscripts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383280"/>
            <a:ext cx="44805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9144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t>Ujjwal Gupta</a:t>
            </a:r>
          </a:p>
          <a:p>
            <a:pPr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dirty="0"/>
              <a:t>                                             </a:t>
            </a:r>
            <a:r>
              <a:t>Reg No: 20233296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3383280"/>
            <a:ext cx="44805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9144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t>Ujjawal Mishra</a:t>
            </a:r>
          </a:p>
          <a:p>
            <a:pPr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dirty="0"/>
              <a:t>                                            </a:t>
            </a:r>
            <a:r>
              <a:t>Reg No: 20233295 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663440"/>
            <a:ext cx="44805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9144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t>Sparsh Gupta</a:t>
            </a:r>
          </a:p>
          <a:p>
            <a:pPr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/>
              <a:t>                                            </a:t>
            </a:r>
            <a:r>
              <a:t>Reg No: 20233276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663440"/>
            <a:ext cx="44805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9144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dirty="0"/>
              <a:t>Vishnu Kant </a:t>
            </a:r>
            <a:r>
              <a:rPr lang="en-US"/>
              <a:t>Bagri</a:t>
            </a:r>
            <a:endParaRPr lang="en-US" dirty="0" err="1">
              <a:ea typeface="Calibri"/>
              <a:cs typeface="Calibri"/>
            </a:endParaRPr>
          </a:p>
          <a:p>
            <a:pPr>
              <a:defRPr sz="1150" b="1">
                <a:solidFill>
                  <a:srgbClr val="1D4ED8"/>
                </a:solidFill>
                <a:latin typeface="Calibri"/>
              </a:defRPr>
            </a:pPr>
            <a:r>
              <a:rPr lang="en-US" dirty="0"/>
              <a:t>                                                </a:t>
            </a:r>
            <a:r>
              <a:t>Reg No: 20233315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2537"/>
                </a:solidFill>
                <a:latin typeface="Calibri"/>
              </a:defRPr>
            </a:pPr>
            <a:r>
              <a:t>Team 24  •  Section D  •  Submission Repository: Section_D_Team_24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t>IMAGE PROCESSING &amp; COMPUTER VISION  |  SECTION D  |  TEAM 24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t>Problem Statement &amp; Archival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t>Section D | Team 24: Document Restoration                                                                              Slide 2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0F2537"/>
                </a:solidFill>
                <a:latin typeface="Calibri"/>
              </a:defRPr>
            </a:pPr>
            <a:r>
              <a:t>Centuries of Physical Degradation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Photometric Aging: Oxidation of cellulose and decay of acidic iron gall inks cause severe background browning and faded text strokes.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Reverse Bleed-Through: Porous parchment permits ink migration over centuries, superimposing confusing reverse-side strokes over recto text.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Physical Defects: Insect tunneling (bookworms), fungal blooms, water stains, creases, and torn document boundaries.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Digitization Flaws: Scanning introduces dark peripheral bed margins, sensor noise, and angular document skew.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B45309"/>
                </a:solidFill>
                <a:latin typeface="Calibri"/>
              </a:defRPr>
            </a:pPr>
            <a:r>
              <a:t>Why Standard Methods Fail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Global Otsu Failure: Assumes a bimodal intensity histogram. Stains overlap with ink, causing entire stained areas to turn solid black.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Linear Smoothing Flaws: Gaussian blur attenuates fine handwritten strokes, destroying serifs and character loops.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Prohibitive Complexity: High-resolution archival scans (10–60 MP) choke naive sliding-window algorithms (O(W²)), taking minutes per page.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Our Solution: An end-to-end, sub-second classical computer vision pipeline tailored for multi-epoch degraded manuscripts on commodity CPUs.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t>IMAGE PROCESSING &amp; COMPUTER VISION  |  SECTION D  |  TEAM 24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t>Proposed 8-Stage Restoration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t>Section D | Team 24: Document Restoration                                                                              Slide 3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t>1. Border Cropping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Intensity profile thresholding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Strips dark scanner bed margins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t>2. Geometric Deskewing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Radon projection variance + Hough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Sub-degree text line alignment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t>3. Background Division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Morphological flat-field (51x51)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Cancels yellowing &amp; stains to white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645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t>4. Spatial Denoising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Fast Non-Local Means &amp; Bilateral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Suppresses grain; preserves strokes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t>5. Contrast Boost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CLAHE in CIE L*a*b* space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Recovers severely faded characters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3931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t>6. Defect Inpainting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Telea Fast Marching &amp; Navier-Stokes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Fills holes, tears &amp; ink blots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931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t>7. O(1) Sauvola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Local dynamic threshold via box filters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Crisp text isolation in sub-second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931920"/>
            <a:ext cx="2542032" cy="208483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500" b="1">
                <a:solidFill>
                  <a:srgbClr val="0F2537"/>
                </a:solidFill>
                <a:latin typeface="Calibri"/>
              </a:defRPr>
            </a:pPr>
            <a:r>
              <a:t>8. Post-Processing</a:t>
            </a:r>
          </a:p>
          <a:p>
            <a:pPr>
              <a:spcBef>
                <a:spcPts val="400"/>
              </a:spcBef>
              <a:defRPr sz="1150" b="1">
                <a:solidFill>
                  <a:srgbClr val="1D4ED8"/>
                </a:solidFill>
                <a:latin typeface="Calibri"/>
              </a:defRPr>
            </a:pPr>
            <a:r>
              <a:t>Unsharp masking + 2x2 clean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Sharpened strokes &amp; speckle-free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t>PRESENTER: UJJWAL GUPTA (REG NO: 20233296)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t>Stages 1–3: Preprocessing &amp; Geometric Restoration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t>Section D | Team 24: Document Restoration                                                                              Slide 4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t>Stage 1: Document Border Cropping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dirty="0"/>
              <a:t>• Scanned manuscripts contain dark</a:t>
            </a:r>
            <a:r>
              <a:rPr lang="en-US" dirty="0"/>
              <a:t> </a:t>
            </a:r>
            <a:r>
              <a:rPr dirty="0"/>
              <a:t> margins that distort histogram statistics.</a:t>
            </a:r>
            <a:br>
              <a:rPr dirty="0"/>
            </a:br>
            <a:r>
              <a:rPr dirty="0"/>
              <a:t>• Row/column intensity projection profile averages:</a:t>
            </a:r>
            <a:br>
              <a:rPr dirty="0"/>
            </a:br>
            <a:r>
              <a:rPr dirty="0"/>
              <a:t>    </a:t>
            </a:r>
            <a:r>
              <a:rPr dirty="0" err="1"/>
              <a:t>μ_row</a:t>
            </a:r>
            <a:r>
              <a:rPr dirty="0"/>
              <a:t>(y) = (1/W) Σ </a:t>
            </a:r>
            <a:r>
              <a:rPr dirty="0" err="1"/>
              <a:t>I_g</a:t>
            </a:r>
            <a:r>
              <a:rPr dirty="0"/>
              <a:t>(</a:t>
            </a:r>
            <a:r>
              <a:rPr dirty="0" err="1"/>
              <a:t>x,y</a:t>
            </a:r>
            <a:r>
              <a:rPr dirty="0"/>
              <a:t>)</a:t>
            </a:r>
            <a:br>
              <a:rPr dirty="0"/>
            </a:br>
            <a:r>
              <a:rPr dirty="0"/>
              <a:t>• Automatically crops boundaries exceeding threshold </a:t>
            </a:r>
            <a:r>
              <a:rPr dirty="0" err="1"/>
              <a:t>T_margin</a:t>
            </a:r>
            <a:r>
              <a:rPr dirty="0"/>
              <a:t> = 10 with safety buffer p = 5 </a:t>
            </a:r>
            <a:r>
              <a:rPr dirty="0" err="1"/>
              <a:t>px</a:t>
            </a:r>
            <a:r>
              <a:rPr dirty="0"/>
              <a:t> to protect edge text.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4572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rPr dirty="0"/>
              <a:t>Stage 2: Geometric Rectification &amp; </a:t>
            </a:r>
            <a:r>
              <a:rPr dirty="0" err="1"/>
              <a:t>Deskewing</a:t>
            </a:r>
            <a:endParaRPr lang="en-US" dirty="0" err="1">
              <a:ea typeface="Calibri"/>
              <a:cs typeface="Calibri"/>
            </a:endParaRP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rPr dirty="0"/>
              <a:t>• Physical document tilt causes rotational skew θ.</a:t>
            </a:r>
            <a:br>
              <a:rPr dirty="0"/>
            </a:br>
            <a:r>
              <a:rPr dirty="0"/>
              <a:t>• Projection profile variance </a:t>
            </a:r>
            <a:r>
              <a:t>maximization</a:t>
            </a:r>
            <a:br>
              <a:rPr dirty="0"/>
            </a:br>
            <a:r>
              <a:t>• At correct alignment, alternating </a:t>
            </a:r>
            <a:r>
              <a:rPr dirty="0"/>
              <a:t>text/interline spaces maximize variance.</a:t>
            </a:r>
            <a:br>
              <a:rPr dirty="0"/>
            </a:br>
            <a:r>
              <a:rPr dirty="0"/>
              <a:t>• Affine warping with bicubic interpolation and white border padding.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10144" y="165608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t>Stage 3: Morphological Background Division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Isolates low-frequency yellowing without suppressing high-frequency text.</a:t>
            </a:r>
            <a:br/>
            <a:r>
              <a:t>• Structural closing with 51x51 kernel estimates paper surface:</a:t>
            </a:r>
            <a:br/>
            <a:r>
              <a:t>    B = (I_g ⊕ S) ⊖ S</a:t>
            </a:r>
            <a:br/>
            <a:r>
              <a:t>• Division: I_norm = (I_g / max(B, 1.0)) * 255 flattens yellow stains to uniform 255 (white).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t>PRESENTER: UJJAWAL MISHRA (REG NO: 20233295)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t>Stages 4–6: Filtering, Contrast &amp; Defect Inpainting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t>Section D | Team 24: Document Restoration                                                                              Slide 5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t>Stage 4: Edge-Preserving Denoising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Paper grain and scanner noise require smoothing that preserves fine text serifs.</a:t>
            </a:r>
            <a:br/>
            <a:r>
              <a:t>• Fast Non-Local Means (NLM): Computes weighted averages based on patch similarity across search window Ω:</a:t>
            </a:r>
            <a:br/>
            <a:r>
              <a:t>    Î(p) = (1/Z) Σ_q I(q) exp(-||V(p)-V(q)||^2 / h^2)</a:t>
            </a:r>
            <a:br/>
            <a:r>
              <a:t>• Bilateral Filtering: Combines spatial closeness (d=5) with radiometric range similarity (σ_r=50).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t>Stage 5: Contrast Enhancement (CLAHE)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Faded historical inks exhibit low dynamic range.</a:t>
            </a:r>
            <a:br/>
            <a:r>
              <a:t>• Converted to CIE L*a*b* perceptual color space.</a:t>
            </a:r>
            <a:br/>
            <a:r>
              <a:t>• Applied strictly to luminance channel (L*) over an 8x8 contextual tile grid with clip limit β = 2.0.</a:t>
            </a:r>
            <a:br/>
            <a:r>
              <a:t>• Recovers faded strokes without color shifting or background noise blowout.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45920"/>
            <a:ext cx="34564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F2537"/>
                </a:solidFill>
                <a:latin typeface="Calibri"/>
              </a:defRPr>
            </a:pPr>
            <a:r>
              <a:t>Stage 6: Defect Repair via Inpainting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Physical tears, ink blots, and wormholes require structural repair.</a:t>
            </a:r>
            <a:br/>
            <a:r>
              <a:t>• Dual-threshold anomaly mask: &lt;= 30 (dark stains) and &gt;= 245 (holes), filtered by contour area (A &gt;= 100 px²).</a:t>
            </a:r>
            <a:br/>
            <a:r>
              <a:t>• Telea Fast Marching &amp; Navier-Stokes PDEs propagate surrounding paper texture into defects.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t>PRESENTER: SPARSH GUPTA (REG NO: 20233276)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t>Stages 7–8: Adaptive Binarization &amp; Text Sharpening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t>Section D | Team 24: Document Restoration                                                                              Slide 6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1168" rIns="274320" rtlCol="0" anchor="ctr"/>
          <a:lstStyle/>
          <a:p>
            <a:pPr algn="ctr">
              <a:defRPr sz="1800" b="1">
                <a:solidFill>
                  <a:srgbClr val="0F2537"/>
                </a:solidFill>
                <a:latin typeface="Calibri"/>
              </a:defRPr>
            </a:pPr>
            <a:r>
              <a:t>Stage 7: High-Speed O(1) Sauvola Local Adaptive Thresholding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Sauvola dynamic threshold: T(x, y) = m(x, y) * [1 + k * (s(x, y)/R - 1)]  where R = 128, k = 0.2</a:t>
            </a:r>
            <a:br/>
            <a:r>
              <a:t>• Naive sliding-window complexity is O(W^2) per pixel — requiring minutes per high-resolution archival page.</a:t>
            </a:r>
            <a:br/>
            <a:r>
              <a:t>• OUR EXACT O(1) BOX-FILTER FORMULATION:</a:t>
            </a:r>
            <a:br/>
            <a:r>
              <a:t>    M = BoxFilter(I_g, WxW)             M2 = BoxFilter(I_g^2, WxW)</a:t>
            </a:r>
            <a:br/>
            <a:r>
              <a:t>    Var = max(M2 - M^2, 0.0)            S = sqrt(Var)</a:t>
            </a:r>
            <a:br/>
            <a:r>
              <a:t>    T = M * (1.0 + k * (S / 128.0 - 1.0))</a:t>
            </a:r>
            <a:br/>
            <a:r>
              <a:t>• Constant runtime O(1) independent of window size W — achieves 35x speedup (&lt;0.2 s per document)!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rtlCol="0" anchor="ctr"/>
          <a:lstStyle/>
          <a:p>
            <a:pPr algn="ctr">
              <a:defRPr sz="1600" b="1">
                <a:solidFill>
                  <a:srgbClr val="1D4ED8"/>
                </a:solidFill>
                <a:latin typeface="Calibri"/>
              </a:defRPr>
            </a:pPr>
            <a:r>
              <a:t>Stage 8: Morphological Post-Processing &amp; Text Sharpening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Unsharp Masking: I_sharp = clip(I + α * [I - (G_σ * I)], 0, 255) with α = 1.5, σ = 3.0 restores crisp edges.</a:t>
            </a:r>
            <a:br/>
            <a:r>
              <a:t>• Dual Morphological Cleanup: 2x2 opening eliminates isolated dust specks; 2x2 closing bridges hairline script fractures.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t>PRESENTER: VISHNU KANT BANGRI (REG NO: 20233315)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t>Streamlit Web UI, Metrics &amp; System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t>Section D | Team 24: Document Restoration                                                                              Slide 7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0F2537"/>
                </a:solidFill>
                <a:latin typeface="Calibri"/>
              </a:defRPr>
            </a:pPr>
            <a:r>
              <a:t>Interactive Streamlit Web Dashboard (app.py)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Real-Time Sidebar Controls: Sliders and toggle switches for all 8 stages (kernel sizes, CLAHE clip limit, Sauvola k-factor).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Tab 1 - Overview: Juxtapose interactive before/after split slider + high-resolution PNG download.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Tab 2 - Stage Progression: Visual step-by-step gallery tracing intermediate image buffers.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Tab 3 - Binarization Grid: Simultaneous side-by-side rendering of 5 thresholding algorithms.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Tab 4 - Quality Metrics: Live PSNR/SSIM scorecards and overlaid intensity distribution histograms.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1D4ED8"/>
                </a:solidFill>
                <a:latin typeface="Calibri"/>
              </a:defRPr>
            </a:pPr>
            <a:r>
              <a:t>Integration, Benchmarking &amp; Testing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Modular Architecture: Dedicated packages in modules/memberX_... ensure seamless team collaboration with zero Git merge conflicts.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Automated Test Suites: test_pipeline.py verifies stage functionality; test_batch.py runs full corpus evaluation.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100% CPU Execution: Zero GPU dependency; executes in sub-second times on consumer laptops for universal accessibility.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Deliverables Completed: Source code, Datasets, Implementation details, Run instructions, PPT presentation, and 5-page IEEE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t>IMAGE PROCESSING &amp; COMPUTER VISION  |  SECTION D  |  TEAM 24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t>Quantitative Experimental Results (PSNR &amp; SSIM)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t>Section D | Team 24: Document Restoration                                                                              Slide 8 of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8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8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Document Sample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Degradations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PSNR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Synthetic Benchmark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800 x 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Stains, Skew (2.5°), Noise, Margins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11.43 dB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0.6416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0.18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US Constitution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1600 x 1321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Cursive Bleed-Through, Faded 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9.33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0.3569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Magna Carta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1066 x 1600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Severe Fading, Dark Stains, Low Contrast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7.62 dB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0.1706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0.48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Codex Gigas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1200 x 1600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Parchment Yellowing, Glare, Dense Gothic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6.60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0.3399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Gutenberg Bible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1000 x 1600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Illumination Falloff, Faded Moveable 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4.54 dB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0.2978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0.44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10728655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 b="1">
                <a:solidFill>
                  <a:srgbClr val="B45309"/>
                </a:solidFill>
                <a:latin typeface="Calibri"/>
              </a:defRPr>
            </a:pPr>
            <a:r>
              <a:t>Crucial Insight on Historical Document Restoration Metrics: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Lower numerical PSNR against raw degraded scans is expected and desirable.</a:t>
            </a:r>
            <a:br/>
            <a:r>
              <a:t>• Raw scans contain large yellowed/stained background regions (intensity ~80-160) that our pipeline intentionally converts to pure white (255).</a:t>
            </a:r>
            <a:br/>
            <a:r>
              <a:t>• This deliberate correction introduces large numerical MSE, but drastically improves contrast, OCR read rates, and human paleographic legibility!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t>IMAGE PROCESSING &amp; COMPUTER VISION  |  SECTION D  |  TEAM 24</a:t>
            </a:r>
          </a:p>
          <a:p>
            <a:pPr>
              <a:spcBef>
                <a:spcPts val="300"/>
              </a:spcBef>
              <a:defRPr sz="2500" b="1">
                <a:solidFill>
                  <a:srgbClr val="0F2537"/>
                </a:solidFill>
                <a:latin typeface="Calibri"/>
              </a:defRPr>
            </a:pPr>
            <a:r>
              <a:t>Binarization Algorithm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89888"/>
            <a:ext cx="10728655" cy="2743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Calibri"/>
              </a:defRPr>
            </a:pPr>
            <a:r>
              <a:t>Section D | Team 24: Document Restoration                                                                              Slide 9 of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 Scope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Non-Uniform Lighting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Bleed-Through Handling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Background Noise Level</a:t>
                      </a:r>
                    </a:p>
                  </a:txBody>
                  <a:tcPr>
                    <a:solidFill>
                      <a:srgbClr val="0F2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Otsu's Method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Fails (stains turn solid black)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Very Poor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Adaptive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Poor (erases faint 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Adaptive Gaussian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Fair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Niblack's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Severe (heavy grain noise)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Sauvola's Method (Ours)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Local O(1)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Superior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Excellent (isolated strokes)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Minimal (clean white page)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10728655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 b="1">
                <a:solidFill>
                  <a:srgbClr val="1D4ED8"/>
                </a:solidFill>
                <a:latin typeface="Calibri"/>
              </a:defRPr>
            </a:pPr>
            <a:r>
              <a:t>Why Sauvola's Method Outperforms All Others: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Otsu computes a single global threshold, causing dark moisture stains to become completely opaque black blocks.</a:t>
            </a:r>
            <a:br/>
            <a:r>
              <a:t>• Niblack creates severe noise because in plain parchment regions (variance s ~ 0), threshold T = m classifies paper texture as text.</a:t>
            </a:r>
            <a:br/>
            <a:r>
              <a:t>• Sauvola's term (s/R - 1) pushes the threshold significantly lower than the mean in quiet paper regions, guaranteeing pristine white backgrounds while preserving delicate ink strokes in high-variance character zones.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67706" y="1280160"/>
            <a:ext cx="5856283" cy="375487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4600" b="1">
                <a:solidFill>
                  <a:srgbClr val="0F2537"/>
                </a:solidFill>
                <a:latin typeface="Calibri"/>
              </a:defRPr>
            </a:pPr>
            <a:endParaRPr lang="en-US" dirty="0"/>
          </a:p>
          <a:p>
            <a:pPr algn="ctr">
              <a:defRPr sz="4600" b="1">
                <a:solidFill>
                  <a:srgbClr val="0F2537"/>
                </a:solidFill>
                <a:latin typeface="Calibri"/>
              </a:defRPr>
            </a:pPr>
            <a:r>
              <a:rPr lang="en-US" sz="9600"/>
              <a:t>Thank You!</a:t>
            </a:r>
            <a:endParaRPr lang="en-US"/>
          </a:p>
          <a:p>
            <a:pPr algn="ctr">
              <a:defRPr sz="4600" b="1">
                <a:solidFill>
                  <a:srgbClr val="0F2537"/>
                </a:solidFill>
                <a:latin typeface="Calibri"/>
              </a:defRPr>
            </a:pPr>
            <a:endParaRPr lang="en-US" sz="9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26</cp:revision>
  <dcterms:created xsi:type="dcterms:W3CDTF">2013-01-27T09:14:16Z</dcterms:created>
  <dcterms:modified xsi:type="dcterms:W3CDTF">2026-10-29T12:14:09Z</dcterms:modified>
  <cp:category/>
</cp:coreProperties>
</file>